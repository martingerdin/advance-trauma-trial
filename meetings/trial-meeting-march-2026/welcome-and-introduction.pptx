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"/>
  </p:notesMasterIdLst>
  <p:sldIdLst>
    <p:sldId id="281" r:id="rId2"/>
    <p:sldId id="284" r:id="rId3"/>
    <p:sldId id="285" r:id="rId4"/>
    <p:sldId id="286" r:id="rId5"/>
    <p:sldId id="287" r:id="rId6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851F"/>
    <a:srgbClr val="663996"/>
    <a:srgbClr val="000000"/>
    <a:srgbClr val="1C9EB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36"/>
    <p:restoredTop sz="94707"/>
  </p:normalViewPr>
  <p:slideViewPr>
    <p:cSldViewPr snapToGrid="0">
      <p:cViewPr>
        <p:scale>
          <a:sx n="78" d="100"/>
          <a:sy n="78" d="100"/>
        </p:scale>
        <p:origin x="432" y="1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9BD839-C2F1-A04F-A26C-53EA3138343A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9F857-477C-C844-A2C4-260961906B4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6732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16F3-5A63-81DE-8CB6-64F0A744B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3A702-DE40-EE63-1D52-1EA6FB653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8578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4991-5571-8B44-D097-AD9E054C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05EE3-14E5-FD08-89B8-5F65C0E75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C5DED5-0E38-F53B-57F5-36FD21787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SE" dirty="0"/>
              <a:t>Updated 2026-03-18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ACADDBB-0377-68D5-C570-64311D532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GB"/>
              <a:t>ADVANCE TRAUMA (NCT06321419)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306CF3-20A3-25FA-002A-431D316EC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fld id="{D747F9C1-1E21-6A41-BEAA-C61935077C9F}" type="slidenum">
              <a:rPr lang="en-SE" smtClean="0"/>
              <a:pPr/>
              <a:t>‹#›</a:t>
            </a:fld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33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558F-E99D-A85C-CDC2-6080EF02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FCA6F-D4EC-6A2F-884C-D7F6BD86B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02511-1895-5DE9-95EB-6B323D2D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57AE0-E686-7A47-4828-A1E3D57E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7767E-7785-8AA3-1FDE-D4300963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724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DB39-A6FF-B387-3F8A-E5F4C523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7B8C-A6EE-3DE1-CD75-080108035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36B73-35F8-BEC4-FBAE-70D8ED656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51D03-A50B-CA40-8E97-814A0E79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B4A58-EB1C-4AE9-7091-467291B2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1654C-2E15-5285-4201-2D536381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4624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172C-BB07-308C-30C1-E3024ED1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3F67-771B-4137-C36B-7841BB998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31816-CAE2-C8A8-EA82-DF7286256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F0FC5-9C17-4871-7D8E-54887A81D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93C85-7606-F2AF-C591-950552642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C1914-6486-4D36-42C2-15C9B102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A5DD9-B4F9-A371-995F-45D87594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972776-FAD2-C8E0-1239-91B7BE58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338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D1D3-3B8C-073D-5633-E0B7B7A0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A622A-7C2B-C140-1460-66A01CBB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E0FE5-D138-9490-D700-5D972679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61081-F1D8-1C06-6E8D-DA4EA14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8443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23A52-2359-CA6F-6718-1ACF8278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7C728-5A94-7D7A-C600-E9958D68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45B5-A786-881C-0FAD-2A53262B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1241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25D1-99F3-3984-7D8C-647EAC20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5C845-D5EE-7471-B13E-4DE42BE77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EF27A-2A39-C224-1200-61288F9FE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578CD-2E96-D7B7-3767-807ACE1B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DD25A-4AD9-40CF-2A09-26CF8F8B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E4BC1-51A2-E8CE-6BD9-314DEA55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1803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3B32-DE51-1E4E-79AA-1F37A457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DDCAC-3DA4-31E7-AF81-00F3F5326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11E65-435C-124D-F895-04D58114B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71F4C-0D7A-6DFE-B0E3-ADE6FE2E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F5FA1-0186-F890-BD9D-4C339BBA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039CD-CD2B-E65B-7FE2-14F8E4B1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9883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48D6-D342-817F-4A6E-C7FF7AF1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50AFA-528F-ECB5-3440-77D58B9B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E812B-3B27-0CC3-E769-D6746B27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0DF23-4EE6-AD17-31F5-AA4BCC20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BF4D-04E6-27EC-3A31-39B278A7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4169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01BD1-8D4B-9FB8-A295-736F7FA71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26220-3110-F489-D425-44E9FB4F8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183D-26DB-9182-74B0-44830113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2026-03-19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44A75-56FA-BBAC-C517-E5206AD7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0D50-9486-FE41-5804-F694BDFB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769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187E9-7FCE-6042-46A9-4977513F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6BD3D-11D0-14EB-1E96-7B673DB15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89715-BEB7-7A1C-FFA8-B695F9170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SE" dirty="0"/>
              <a:t>Updated 2026-03-18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779E-AA9E-9E74-1509-BC7D14292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GB"/>
              <a:t>ADVANCE TRAUMA (NCT06321419)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D816-F1D8-8AE0-D36A-7977D49DD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fld id="{D747F9C1-1E21-6A41-BEAA-C61935077C9F}" type="slidenum">
              <a:rPr lang="en-SE" smtClean="0"/>
              <a:pPr/>
              <a:t>‹#›</a:t>
            </a:fld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3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9257DF-8BA1-8FF9-5FE0-E4E22C381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190291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chemeClr val="bg1"/>
                </a:solidFill>
                <a:latin typeface="Quicksand" pitchFamily="2" charset="77"/>
                <a:cs typeface="Helvetica Neue" panose="02000503000000020004" pitchFamily="2" charset="0"/>
              </a:rPr>
              <a:t>Welcome!</a:t>
            </a:r>
          </a:p>
          <a:p>
            <a:endParaRPr lang="en-GB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Helvetica Neue" panose="02000503000000020004" pitchFamily="2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Helvetica Neue" panose="02000503000000020004" pitchFamily="2" charset="0"/>
              </a:rPr>
              <a:t>Trial Meeting 2026・www.advancetrauma.info</a:t>
            </a:r>
            <a:endParaRPr lang="en-SE" sz="20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79075-C712-55C6-0DF7-5934AE764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000" y="991208"/>
            <a:ext cx="4320000" cy="17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8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5830-2BD5-2A36-BEA8-E26F261C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6000" b="1" dirty="0">
                <a:latin typeface="Garamond" panose="02020404030301010803" pitchFamily="18" charset="0"/>
              </a:rPr>
              <a:t>Morning</a:t>
            </a:r>
            <a:endParaRPr lang="en-SE" sz="3100" b="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9F0D4B-B995-96C6-F266-5F2BF8274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589441"/>
              </p:ext>
            </p:extLst>
          </p:nvPr>
        </p:nvGraphicFramePr>
        <p:xfrm>
          <a:off x="838200" y="1378217"/>
          <a:ext cx="10515600" cy="515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9957519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410577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712788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88745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2920506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Hall 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79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09.00 – 09.25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Welcome &amp; introductions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30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09.25 – 09.50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Our past projects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F6851F">
                        <a:alpha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F6851F">
                        <a:alpha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F6851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784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09.50 – 10.40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The ADVANCE TRAUMA trial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663996">
                        <a:alpha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663996">
                        <a:alpha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663996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18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10.40 – 11.00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Tea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F6851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F6851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F68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50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SE" b="0" i="0" dirty="0">
                        <a:latin typeface="Roboto Medium" panose="02000000000000000000" pitchFamily="2" charset="0"/>
                        <a:ea typeface="Roboto Medium" panose="02000000000000000000" pitchFamily="2" charset="0"/>
                      </a:endParaRPr>
                    </a:p>
                    <a:p>
                      <a:pPr algn="l"/>
                      <a:r>
                        <a:rPr lang="en-SE" b="0" i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Hall 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SE" b="0" i="0" dirty="0">
                        <a:latin typeface="Roboto Medium" panose="02000000000000000000" pitchFamily="2" charset="0"/>
                        <a:ea typeface="Roboto Medium" panose="02000000000000000000" pitchFamily="2" charset="0"/>
                      </a:endParaRPr>
                    </a:p>
                    <a:p>
                      <a:pPr algn="l"/>
                      <a:r>
                        <a:rPr lang="en-SE" b="0" i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Hall B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S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939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Session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Participants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Session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Participants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28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11.00 – 11.30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Batch 1 &amp; 2 overview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Investigators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ATLS adherence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CRC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32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11.30 – 12.00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Batch 3 onboarding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Investigators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Coding demonstration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CRC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99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12.00 – 12.30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Publication policy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Investigators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REDCap demonstration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CRC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61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12.30 – 13.30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Lunch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675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01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B770-8691-AAAC-2146-54923665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DEF4-6110-C5B8-F2B6-FFAD81A8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6000" b="1" dirty="0">
                <a:latin typeface="Garamond" panose="02020404030301010803" pitchFamily="18" charset="0"/>
              </a:rPr>
              <a:t>Afternoon</a:t>
            </a:r>
            <a:endParaRPr lang="en-SE" sz="3100" b="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48672B0-0408-1EDC-2D39-A4C5BBDD4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426743"/>
              </p:ext>
            </p:extLst>
          </p:nvPr>
        </p:nvGraphicFramePr>
        <p:xfrm>
          <a:off x="838200" y="2146320"/>
          <a:ext cx="10515600" cy="2565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995751933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3741057773"/>
                    </a:ext>
                  </a:extLst>
                </a:gridCol>
              </a:tblGrid>
              <a:tr h="339377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Hall 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795837"/>
                  </a:ext>
                </a:extLst>
              </a:tr>
              <a:tr h="339414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13.30 – 14.20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Batch 1 presentations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6399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301085"/>
                  </a:ext>
                </a:extLst>
              </a:tr>
              <a:tr h="339414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14.20 – 15.10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Batch 2 presentations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784837"/>
                  </a:ext>
                </a:extLst>
              </a:tr>
              <a:tr h="339414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15.10 – 15.30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 b="0" i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Tea</a:t>
                      </a:r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189440"/>
                  </a:ext>
                </a:extLst>
              </a:tr>
              <a:tr h="339414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15.30 – 16.20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Batch 3 presentations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50368"/>
                  </a:ext>
                </a:extLst>
              </a:tr>
              <a:tr h="339414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16.20 – 16.40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Group discussion</a:t>
                      </a:r>
                    </a:p>
                  </a:txBody>
                  <a:tcPr>
                    <a:solidFill>
                      <a:srgbClr val="66399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7358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16.40 – 17.00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  <a:ea typeface="Roboto Light" panose="02000000000000000000" pitchFamily="2" charset="0"/>
                          <a:cs typeface="+mn-cs"/>
                        </a:rPr>
                        <a:t>Closing Remarks, Way Forward &amp; Batch 1 CRC felicitation</a:t>
                      </a:r>
                    </a:p>
                  </a:txBody>
                  <a:tcPr>
                    <a:solidFill>
                      <a:srgbClr val="F6851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3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750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BD0A-3E37-1F45-5B28-CC7BEB175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619C-801B-287D-FEB7-9C0703C8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6000" b="1" dirty="0">
                <a:latin typeface="Garamond" panose="02020404030301010803" pitchFamily="18" charset="0"/>
              </a:rPr>
              <a:t>Introductions</a:t>
            </a:r>
            <a:endParaRPr lang="en-SE" sz="3100" b="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86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D88A-0B64-D65F-9734-70087E5B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E" b="1" dirty="0"/>
              <a:t>Questions</a:t>
            </a:r>
          </a:p>
        </p:txBody>
      </p:sp>
      <p:pic>
        <p:nvPicPr>
          <p:cNvPr id="5" name="Picture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1AA23E8D-C8C8-066A-387C-4A3B38C8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689" y="1922689"/>
            <a:ext cx="3012621" cy="3012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F2C5B0-0C4A-6511-25AA-6D44A9BE4CFE}"/>
              </a:ext>
            </a:extLst>
          </p:cNvPr>
          <p:cNvSpPr txBox="1"/>
          <p:nvPr/>
        </p:nvSpPr>
        <p:spPr>
          <a:xfrm>
            <a:off x="4202565" y="5167311"/>
            <a:ext cx="37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E" dirty="0">
                <a:latin typeface="Roboto Medium" panose="02000000000000000000" pitchFamily="2" charset="0"/>
                <a:ea typeface="Roboto Medium" panose="02000000000000000000" pitchFamily="2" charset="0"/>
              </a:rPr>
              <a:t>www</a:t>
            </a:r>
            <a:r>
              <a:rPr lang="en-SE" dirty="0">
                <a:latin typeface="Roboto Medium" panose="02000000000000000000" pitchFamily="2" charset="0"/>
                <a:ea typeface="Roboto Medium" panose="02000000000000000000" pitchFamily="2" charset="0"/>
              </a:rPr>
              <a:t>.menti.com/alwi12gy3iek</a:t>
            </a:r>
          </a:p>
        </p:txBody>
      </p:sp>
    </p:spTree>
    <p:extLst>
      <p:ext uri="{BB962C8B-B14F-4D97-AF65-F5344CB8AC3E}">
        <p14:creationId xmlns:p14="http://schemas.microsoft.com/office/powerpoint/2010/main" val="37316909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28669</TotalTime>
  <Words>132</Words>
  <Application>Microsoft Macintosh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Garamond</vt:lpstr>
      <vt:lpstr>Quicksand</vt:lpstr>
      <vt:lpstr>Roboto Light</vt:lpstr>
      <vt:lpstr>Roboto Medium</vt:lpstr>
      <vt:lpstr>Roboto Thin</vt:lpstr>
      <vt:lpstr>1_Office Theme</vt:lpstr>
      <vt:lpstr>PowerPoint Presentation</vt:lpstr>
      <vt:lpstr>Morning</vt:lpstr>
      <vt:lpstr>Afternoon</vt:lpstr>
      <vt:lpstr>Introductions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Gerdin Wärnberg</dc:creator>
  <cp:lastModifiedBy>Martin Gerdin Wärnberg</cp:lastModifiedBy>
  <cp:revision>44</cp:revision>
  <dcterms:created xsi:type="dcterms:W3CDTF">2024-10-14T11:58:30Z</dcterms:created>
  <dcterms:modified xsi:type="dcterms:W3CDTF">2026-03-20T07:35:08Z</dcterms:modified>
</cp:coreProperties>
</file>