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D3E0E6"/>
    <a:srgbClr val="199DBC"/>
    <a:srgbClr val="F584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–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–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7292A2E-F333-43FB-9621-5CBBE7FDCDCB}" styleName="Light Style 2 –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27102A9-8310-4765-A935-A1911B00CA55}" styleName="Light Style 1 –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58"/>
    <p:restoredTop sz="94694"/>
  </p:normalViewPr>
  <p:slideViewPr>
    <p:cSldViewPr snapToGrid="0">
      <p:cViewPr varScale="1">
        <p:scale>
          <a:sx n="118" d="100"/>
          <a:sy n="118" d="100"/>
        </p:scale>
        <p:origin x="22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F16F3-5A63-81DE-8CB6-64F0A744BF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53A702-DE40-EE63-1D52-1EA6FB6535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180A7D-6B9B-7F46-7338-606E6CC2B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7589F-2808-F947-87E3-F3A215F17535}" type="datetimeFigureOut">
              <a:rPr lang="en-SE" smtClean="0"/>
              <a:t>2025-10-06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3913D-598B-0D64-2083-D7969E17E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44528-4CF9-ED85-497F-B69A75498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7F9C1-1E21-6A41-BEAA-C61935077C9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24586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64991-5571-8B44-D097-AD9E054CF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05EE3-14E5-FD08-89B8-5F65C0E751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703A4-9793-CB2A-C102-91D636772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7589F-2808-F947-87E3-F3A215F17535}" type="datetimeFigureOut">
              <a:rPr lang="en-SE" smtClean="0"/>
              <a:t>2025-10-06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805BE7-5DB7-A8A8-B732-0184B6EC1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1CCF67-3EDE-2DA3-1045-43326E5DB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7F9C1-1E21-6A41-BEAA-C61935077C9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08654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A558F-E99D-A85C-CDC2-6080EF025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BFCA6F-D4EC-6A2F-884C-D7F6BD86BA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02511-1895-5DE9-95EB-6B323D2DC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7589F-2808-F947-87E3-F3A215F17535}" type="datetimeFigureOut">
              <a:rPr lang="en-SE" smtClean="0"/>
              <a:t>2025-10-06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57AE0-E686-7A47-4828-A1E3D57EE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57767E-7785-8AA3-1FDE-D43009637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7F9C1-1E21-6A41-BEAA-C61935077C9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788515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BDB39-A6FF-B387-3F8A-E5F4C5238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B7B8C-A6EE-3DE1-CD75-080108035E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936B73-35F8-BEC4-FBAE-70D8ED6560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D51D03-A50B-CA40-8E97-814A0E79F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7589F-2808-F947-87E3-F3A215F17535}" type="datetimeFigureOut">
              <a:rPr lang="en-SE" smtClean="0"/>
              <a:t>2025-10-06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5B4A58-EB1C-4AE9-7091-467291B21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A1654C-2E15-5285-4201-2D5363813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7F9C1-1E21-6A41-BEAA-C61935077C9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723647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B172C-BB07-308C-30C1-E3024ED15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933F67-771B-4137-C36B-7841BB998B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631816-CAE2-C8A8-EA82-DF72862563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0F0FC5-9C17-4871-7D8E-54887A81D1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393C85-7606-F2AF-C591-950552642D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5C1914-6486-4D36-42C2-15C9B1026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7589F-2808-F947-87E3-F3A215F17535}" type="datetimeFigureOut">
              <a:rPr lang="en-SE" smtClean="0"/>
              <a:t>2025-10-06</a:t>
            </a:fld>
            <a:endParaRPr lang="en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8A5DD9-B4F9-A371-995F-45D87594E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972776-FAD2-C8E0-1239-91B7BE58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7F9C1-1E21-6A41-BEAA-C61935077C9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175314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4D1D3-3B8C-073D-5633-E0B7B7A0E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4A622A-7C2B-C140-1460-66A01CBB6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7589F-2808-F947-87E3-F3A215F17535}" type="datetimeFigureOut">
              <a:rPr lang="en-SE" smtClean="0"/>
              <a:t>2025-10-06</a:t>
            </a:fld>
            <a:endParaRPr lang="en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E0FE5-D138-9490-D700-5D9726796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61081-F1D8-1C06-6E8D-DA4EA14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7F9C1-1E21-6A41-BEAA-C61935077C9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079043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223A52-2359-CA6F-6718-1ACF82781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7589F-2808-F947-87E3-F3A215F17535}" type="datetimeFigureOut">
              <a:rPr lang="en-SE" smtClean="0"/>
              <a:t>2025-10-06</a:t>
            </a:fld>
            <a:endParaRPr lang="en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D7C728-5A94-7D7A-C600-E9958D68A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F945B5-A786-881C-0FAD-2A53262B5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7F9C1-1E21-6A41-BEAA-C61935077C9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88997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125D1-99F3-3984-7D8C-647EAC208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5C845-D5EE-7471-B13E-4DE42BE77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5EF27A-2A39-C224-1200-61288F9FE1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8578CD-2E96-D7B7-3767-807ACE1BF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7589F-2808-F947-87E3-F3A215F17535}" type="datetimeFigureOut">
              <a:rPr lang="en-SE" smtClean="0"/>
              <a:t>2025-10-06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DD25A-4AD9-40CF-2A09-26CF8F8B5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0E4BC1-51A2-E8CE-6BD9-314DEA553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7F9C1-1E21-6A41-BEAA-C61935077C9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33326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E3B32-DE51-1E4E-79AA-1F37A457D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DDDCAC-3DA4-31E7-AF81-00F3F5326B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11E65-435C-124D-F895-04D58114B5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C71F4C-0D7A-6DFE-B0E3-ADE6FE2E4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7589F-2808-F947-87E3-F3A215F17535}" type="datetimeFigureOut">
              <a:rPr lang="en-SE" smtClean="0"/>
              <a:t>2025-10-06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F5FA1-0186-F890-BD9D-4C339BBA4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4039CD-CD2B-E65B-7FE2-14F8E4B1E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7F9C1-1E21-6A41-BEAA-C61935077C9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861342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148D6-D342-817F-4A6E-C7FF7AF1D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D50AFA-528F-ECB5-3440-77D58B9B34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7E812B-3B27-0CC3-E769-D6746B27D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7589F-2808-F947-87E3-F3A215F17535}" type="datetimeFigureOut">
              <a:rPr lang="en-SE" smtClean="0"/>
              <a:t>2025-10-06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70DF23-4EE6-AD17-31F5-AA4BCC209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7BF4D-04E6-27EC-3A31-39B278A77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7F9C1-1E21-6A41-BEAA-C61935077C9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412484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F01BD1-8D4B-9FB8-A295-736F7FA71C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426220-3110-F489-D425-44E9FB4F83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9183D-26DB-9182-74B0-448301131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7589F-2808-F947-87E3-F3A215F17535}" type="datetimeFigureOut">
              <a:rPr lang="en-SE" smtClean="0"/>
              <a:t>2025-10-06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44A75-56FA-BBAC-C517-E5206AD7A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10D50-9486-FE41-5804-F694BDFB1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7F9C1-1E21-6A41-BEAA-C61935077C9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719790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5187E9-7FCE-6042-46A9-4977513F7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B6BD3D-11D0-14EB-1E96-7B673DB158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489715-BEB7-7A1C-FFA8-B695F9170F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97589F-2808-F947-87E3-F3A215F17535}" type="datetimeFigureOut">
              <a:rPr lang="en-SE" smtClean="0"/>
              <a:t>2025-10-06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B779E-AA9E-9E74-1509-BC7D14292F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CD816-F1D8-8AE0-D36A-7977D49DD5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47F9C1-1E21-6A41-BEAA-C61935077C9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925784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9DB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C16FD-4236-AE9B-F71E-67651742F6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5706"/>
            <a:ext cx="9144000" cy="2387600"/>
          </a:xfrm>
        </p:spPr>
        <p:txBody>
          <a:bodyPr/>
          <a:lstStyle/>
          <a:p>
            <a:r>
              <a:rPr lang="en-SE" b="1" dirty="0">
                <a:solidFill>
                  <a:schemeClr val="bg1"/>
                </a:solidFill>
                <a:latin typeface="Quicksand" pitchFamily="2" charset="77"/>
              </a:rPr>
              <a:t>ADVANCE TRAUMA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9257DF-8BA1-8FF9-5FE0-E4E22C3813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5381"/>
            <a:ext cx="9144000" cy="1655762"/>
          </a:xfrm>
        </p:spPr>
        <p:txBody>
          <a:bodyPr/>
          <a:lstStyle/>
          <a:p>
            <a:r>
              <a:rPr lang="en-SE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Trial Management Group Meeting</a:t>
            </a:r>
          </a:p>
          <a:p>
            <a:r>
              <a:rPr lang="en-SE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October 6, 2025</a:t>
            </a:r>
          </a:p>
        </p:txBody>
      </p:sp>
      <p:pic>
        <p:nvPicPr>
          <p:cNvPr id="8" name="Picture 7" descr="A group of people with different symbols&#10;&#10;AI-generated content may be incorrect.">
            <a:extLst>
              <a:ext uri="{FF2B5EF4-FFF2-40B4-BE49-F238E27FC236}">
                <a16:creationId xmlns:a16="http://schemas.microsoft.com/office/drawing/2014/main" id="{1CDD2804-C9A9-21CD-2E2C-B867FE46F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5775" y="796857"/>
            <a:ext cx="3120450" cy="2544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389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CD7CD-32D2-9B60-527F-C75D45D72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257800" cy="1325563"/>
          </a:xfrm>
        </p:spPr>
        <p:txBody>
          <a:bodyPr anchor="b">
            <a:normAutofit/>
          </a:bodyPr>
          <a:lstStyle/>
          <a:p>
            <a:r>
              <a:rPr lang="en-SE" sz="3200" b="1" dirty="0">
                <a:latin typeface="Quicksand SemiBold" pitchFamily="2" charset="77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F2566-73EC-7316-6DE5-F7D7F20F4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pPr lvl="0"/>
            <a:r>
              <a:rPr lang="en-US" sz="20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Batch 1 patient inclusion</a:t>
            </a:r>
            <a:endParaRPr lang="en-SE" sz="2000" dirty="0"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  <a:p>
            <a:pPr lvl="0"/>
            <a:r>
              <a:rPr lang="en-US" sz="20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Batch 1 data review</a:t>
            </a:r>
            <a:endParaRPr lang="en-SE" sz="2000" dirty="0"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  <a:p>
            <a:pPr lvl="0"/>
            <a:r>
              <a:rPr lang="en-US" sz="20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Batch 2 progress update</a:t>
            </a:r>
            <a:endParaRPr lang="en-SE" sz="2000" dirty="0"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  <a:p>
            <a:pPr lvl="0"/>
            <a:r>
              <a:rPr lang="en-US" sz="20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Batch 3 progress update</a:t>
            </a:r>
            <a:endParaRPr lang="en-SE" sz="2000" dirty="0"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  <a:p>
            <a:pPr lvl="0"/>
            <a:r>
              <a:rPr lang="en-US" sz="20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Protocol paper progress</a:t>
            </a:r>
          </a:p>
          <a:p>
            <a:pPr lvl="0"/>
            <a:r>
              <a:rPr lang="en-US" sz="20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Next meeting</a:t>
            </a:r>
            <a:endParaRPr lang="en-SE" sz="2000" dirty="0"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  <a:p>
            <a:pPr lvl="0"/>
            <a:r>
              <a:rPr lang="en-US" sz="20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Any other business</a:t>
            </a:r>
            <a:endParaRPr lang="en-SE" sz="2000" dirty="0"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3084F58-F95E-8DF3-E4CE-954BC34D2CE2}"/>
              </a:ext>
            </a:extLst>
          </p:cNvPr>
          <p:cNvCxnSpPr>
            <a:cxnSpLocks/>
            <a:stCxn id="2" idx="1"/>
          </p:cNvCxnSpPr>
          <p:nvPr/>
        </p:nvCxnSpPr>
        <p:spPr>
          <a:xfrm>
            <a:off x="838200" y="1027907"/>
            <a:ext cx="1800000" cy="7263"/>
          </a:xfrm>
          <a:prstGeom prst="line">
            <a:avLst/>
          </a:prstGeom>
          <a:ln w="63500">
            <a:solidFill>
              <a:srgbClr val="F584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6879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7F8A35-E1E2-C1E8-D14A-BDAC80CED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3E8CE-7484-1731-8560-BF412017A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257800" cy="1325563"/>
          </a:xfrm>
        </p:spPr>
        <p:txBody>
          <a:bodyPr anchor="b">
            <a:normAutofit/>
          </a:bodyPr>
          <a:lstStyle/>
          <a:p>
            <a:r>
              <a:rPr lang="en-SE" sz="3200" b="1" dirty="0">
                <a:latin typeface="Quicksand SemiBold" pitchFamily="2" charset="77"/>
              </a:rPr>
              <a:t>Batch 1 patient inclusion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7C4298-4006-8349-7B78-AA8F623A6901}"/>
              </a:ext>
            </a:extLst>
          </p:cNvPr>
          <p:cNvCxnSpPr>
            <a:cxnSpLocks/>
            <a:stCxn id="2" idx="1"/>
          </p:cNvCxnSpPr>
          <p:nvPr/>
        </p:nvCxnSpPr>
        <p:spPr>
          <a:xfrm>
            <a:off x="838200" y="1027907"/>
            <a:ext cx="1800000" cy="7263"/>
          </a:xfrm>
          <a:prstGeom prst="line">
            <a:avLst/>
          </a:prstGeom>
          <a:ln w="63500">
            <a:solidFill>
              <a:srgbClr val="F584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7255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E7011F-84B3-2E45-A67A-E6DD0496F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A5838-4E13-6D53-40A4-9D5226CEC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257800" cy="1325563"/>
          </a:xfrm>
        </p:spPr>
        <p:txBody>
          <a:bodyPr anchor="b">
            <a:normAutofit/>
          </a:bodyPr>
          <a:lstStyle/>
          <a:p>
            <a:r>
              <a:rPr lang="en-SE" sz="3200" b="1" dirty="0">
                <a:latin typeface="Quicksand SemiBold" pitchFamily="2" charset="77"/>
              </a:rPr>
              <a:t>Batch 1 data review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AEF82D0-0A7E-304E-F214-80FC9669245D}"/>
              </a:ext>
            </a:extLst>
          </p:cNvPr>
          <p:cNvCxnSpPr>
            <a:cxnSpLocks/>
            <a:stCxn id="2" idx="1"/>
          </p:cNvCxnSpPr>
          <p:nvPr/>
        </p:nvCxnSpPr>
        <p:spPr>
          <a:xfrm>
            <a:off x="838200" y="1027907"/>
            <a:ext cx="1800000" cy="7263"/>
          </a:xfrm>
          <a:prstGeom prst="line">
            <a:avLst/>
          </a:prstGeom>
          <a:ln w="63500">
            <a:solidFill>
              <a:srgbClr val="F584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97A898D8-29AB-5D59-1784-BC541A97A1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678905"/>
              </p:ext>
            </p:extLst>
          </p:nvPr>
        </p:nvGraphicFramePr>
        <p:xfrm>
          <a:off x="838200" y="1825625"/>
          <a:ext cx="10515596" cy="3976942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502228">
                  <a:extLst>
                    <a:ext uri="{9D8B030D-6E8A-4147-A177-3AD203B41FA5}">
                      <a16:colId xmlns:a16="http://schemas.microsoft.com/office/drawing/2014/main" val="1731360880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594793111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013554707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995148155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295088719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406843855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05658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1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 </a:t>
                      </a:r>
                      <a:endParaRPr lang="en-SE" sz="1800" kern="1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00" dirty="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Cooper </a:t>
                      </a:r>
                      <a:endParaRPr lang="en-SE" sz="1800" kern="1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800" b="1" kern="100" dirty="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(n = 62) </a:t>
                      </a:r>
                      <a:endParaRPr lang="en-SE" sz="1800" kern="1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00" dirty="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HIMS </a:t>
                      </a:r>
                      <a:endParaRPr lang="en-SE" sz="1800" kern="1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800" b="1" kern="100" dirty="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(n = 103) </a:t>
                      </a:r>
                      <a:endParaRPr lang="en-SE" sz="1800" kern="1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SSKM</a:t>
                      </a:r>
                      <a:endParaRPr lang="en-SE" sz="1800" kern="1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800" b="1" kern="1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(n = 390) </a:t>
                      </a:r>
                      <a:endParaRPr lang="en-SE" sz="1800" kern="1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CMC </a:t>
                      </a:r>
                      <a:endParaRPr lang="en-SE" sz="1800" kern="1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800" b="1" kern="1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(n = 57) </a:t>
                      </a:r>
                      <a:endParaRPr lang="en-SE" sz="1800" kern="1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GMC </a:t>
                      </a:r>
                      <a:endParaRPr lang="en-SE" sz="1800" kern="1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800" b="1" kern="1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(n = 60)</a:t>
                      </a:r>
                      <a:endParaRPr lang="en-SE" sz="1800" kern="1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>
                    <a:solidFill>
                      <a:srgbClr val="FF000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00" dirty="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Overall </a:t>
                      </a:r>
                    </a:p>
                    <a:p>
                      <a:pPr>
                        <a:buNone/>
                      </a:pPr>
                      <a:r>
                        <a:rPr lang="en-US" sz="1800" b="1" kern="100" dirty="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(n = 672)</a:t>
                      </a:r>
                      <a:endParaRPr lang="en-SE" sz="1800" kern="1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76156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00" dirty="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Total Injuries</a:t>
                      </a:r>
                      <a:endParaRPr lang="en-SE" sz="1800" kern="1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dirty="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126</a:t>
                      </a:r>
                      <a:endParaRPr lang="en-SE" sz="18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dirty="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311</a:t>
                      </a:r>
                      <a:endParaRPr lang="en-SE" sz="18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dirty="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1552</a:t>
                      </a:r>
                      <a:endParaRPr lang="en-SE" sz="18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dirty="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93</a:t>
                      </a:r>
                      <a:endParaRPr lang="en-SE" sz="18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dirty="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55</a:t>
                      </a:r>
                      <a:endParaRPr lang="en-SE" sz="18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dirty="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2086</a:t>
                      </a:r>
                      <a:endParaRPr lang="en-SE" sz="18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6030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00" dirty="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Age in years, median (IQR)</a:t>
                      </a:r>
                      <a:endParaRPr lang="en-SE" sz="1800" kern="1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36</a:t>
                      </a:r>
                      <a:endParaRPr lang="en-SE" sz="18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(24-47) </a:t>
                      </a:r>
                      <a:endParaRPr lang="en-SE" sz="18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dirty="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 </a:t>
                      </a:r>
                      <a:endParaRPr lang="en-SE" sz="18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dirty="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 </a:t>
                      </a:r>
                      <a:endParaRPr lang="en-SE" sz="18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34.5 </a:t>
                      </a:r>
                      <a:endParaRPr lang="en-SE" sz="18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(26-54)</a:t>
                      </a:r>
                      <a:endParaRPr lang="en-SE" sz="18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 </a:t>
                      </a:r>
                      <a:endParaRPr lang="en-SE" sz="18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 </a:t>
                      </a:r>
                      <a:endParaRPr lang="en-SE" sz="18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37.5 (26-54)</a:t>
                      </a:r>
                      <a:endParaRPr lang="en-SE" sz="18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34 </a:t>
                      </a:r>
                      <a:endParaRPr lang="en-SE" sz="18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(25-42)</a:t>
                      </a:r>
                      <a:endParaRPr lang="en-SE" sz="18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40 (28-51)              </a:t>
                      </a:r>
                      <a:endParaRPr lang="en-SE" sz="18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 </a:t>
                      </a:r>
                      <a:endParaRPr lang="en-SE" sz="18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 </a:t>
                      </a:r>
                      <a:endParaRPr lang="en-SE" sz="18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 </a:t>
                      </a:r>
                      <a:endParaRPr lang="en-SE" sz="18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36.4</a:t>
                      </a:r>
                      <a:endParaRPr lang="en-SE" sz="18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61160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 </a:t>
                      </a:r>
                      <a:r>
                        <a:rPr lang="en-US" sz="1800" kern="1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Missing no.</a:t>
                      </a:r>
                      <a:endParaRPr lang="en-SE" sz="1800" kern="1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3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0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0</a:t>
                      </a:r>
                      <a:endParaRPr lang="en-SE" sz="18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</a:t>
                      </a:r>
                      <a:endParaRPr lang="en-SE" sz="18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6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90574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Female sex, no. (%)</a:t>
                      </a:r>
                      <a:endParaRPr lang="en-SE" sz="1800" kern="1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5 (8)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19 (19)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70 (18)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12 (21)</a:t>
                      </a:r>
                      <a:endParaRPr lang="en-SE" sz="18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5 (9)</a:t>
                      </a:r>
                      <a:endParaRPr lang="en-SE" sz="18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111 (17)</a:t>
                      </a:r>
                      <a:endParaRPr lang="en-SE" sz="18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579875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 </a:t>
                      </a:r>
                      <a:r>
                        <a:rPr lang="en-US" sz="1800" kern="1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Missing no.</a:t>
                      </a:r>
                      <a:endParaRPr lang="en-SE" sz="1800" kern="1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3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0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0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dirty="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</a:t>
                      </a:r>
                      <a:endParaRPr lang="en-SE" sz="18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dirty="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6</a:t>
                      </a:r>
                      <a:endParaRPr lang="en-SE" sz="18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1527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9485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B6DC8D-4538-CA1D-237A-A6EE492AD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AF843-AB02-956B-5CB8-A57C75CBA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257800" cy="1325563"/>
          </a:xfrm>
        </p:spPr>
        <p:txBody>
          <a:bodyPr anchor="b">
            <a:normAutofit/>
          </a:bodyPr>
          <a:lstStyle/>
          <a:p>
            <a:r>
              <a:rPr lang="en-SE" sz="3200" b="1" dirty="0">
                <a:latin typeface="Quicksand SemiBold" pitchFamily="2" charset="77"/>
              </a:rPr>
              <a:t>Batch 1 data review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882461-4268-0C57-B029-4C6FA6D315D0}"/>
              </a:ext>
            </a:extLst>
          </p:cNvPr>
          <p:cNvCxnSpPr>
            <a:cxnSpLocks/>
            <a:stCxn id="2" idx="1"/>
          </p:cNvCxnSpPr>
          <p:nvPr/>
        </p:nvCxnSpPr>
        <p:spPr>
          <a:xfrm>
            <a:off x="838200" y="1027907"/>
            <a:ext cx="1800000" cy="7263"/>
          </a:xfrm>
          <a:prstGeom prst="line">
            <a:avLst/>
          </a:prstGeom>
          <a:ln w="63500">
            <a:solidFill>
              <a:srgbClr val="F584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3A26597F-A25C-E34D-C999-FFC96A6359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8264134"/>
              </p:ext>
            </p:extLst>
          </p:nvPr>
        </p:nvGraphicFramePr>
        <p:xfrm>
          <a:off x="838200" y="1825625"/>
          <a:ext cx="10515596" cy="41452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502228">
                  <a:extLst>
                    <a:ext uri="{9D8B030D-6E8A-4147-A177-3AD203B41FA5}">
                      <a16:colId xmlns:a16="http://schemas.microsoft.com/office/drawing/2014/main" val="1731360880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594793111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013554707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995148155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295088719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406843855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05658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1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 </a:t>
                      </a:r>
                      <a:endParaRPr lang="en-SE" sz="1800" kern="1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00" dirty="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Cooper </a:t>
                      </a:r>
                      <a:endParaRPr lang="en-SE" sz="1800" kern="1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800" b="1" kern="100" dirty="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(n = 62) </a:t>
                      </a:r>
                      <a:endParaRPr lang="en-SE" sz="1800" kern="1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00" dirty="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HIMS </a:t>
                      </a:r>
                      <a:endParaRPr lang="en-SE" sz="1800" kern="1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800" b="1" kern="100" dirty="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(n = 103) </a:t>
                      </a:r>
                      <a:endParaRPr lang="en-SE" sz="1800" kern="1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SSKM</a:t>
                      </a:r>
                      <a:endParaRPr lang="en-SE" sz="1800" kern="1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800" b="1" kern="1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(n = 390) </a:t>
                      </a:r>
                      <a:endParaRPr lang="en-SE" sz="1800" kern="1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CMC </a:t>
                      </a:r>
                      <a:endParaRPr lang="en-SE" sz="1800" kern="1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800" b="1" kern="1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(n = 57) </a:t>
                      </a:r>
                      <a:endParaRPr lang="en-SE" sz="1800" kern="1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GMC </a:t>
                      </a:r>
                      <a:endParaRPr lang="en-SE" sz="1800" kern="1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800" b="1" kern="1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(n = 60)</a:t>
                      </a:r>
                      <a:endParaRPr lang="en-SE" sz="1800" kern="1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00" dirty="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Overall </a:t>
                      </a:r>
                    </a:p>
                    <a:p>
                      <a:pPr>
                        <a:buNone/>
                      </a:pPr>
                      <a:r>
                        <a:rPr lang="en-US" sz="1800" b="1" kern="100" dirty="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(n = 672)</a:t>
                      </a:r>
                      <a:endParaRPr lang="en-SE" sz="1800" kern="1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76156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00" dirty="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Mechanism of injury, no. (%)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100" dirty="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 </a:t>
                      </a:r>
                      <a:endParaRPr lang="en-SE" sz="1800" kern="1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>
                    <a:solidFill>
                      <a:srgbClr val="D3E0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1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 </a:t>
                      </a:r>
                      <a:endParaRPr lang="en-SE" sz="1800" kern="1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>
                    <a:solidFill>
                      <a:srgbClr val="D3E0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1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 </a:t>
                      </a:r>
                      <a:endParaRPr lang="en-SE" sz="1800" kern="1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>
                    <a:solidFill>
                      <a:srgbClr val="D3E0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1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 </a:t>
                      </a:r>
                      <a:endParaRPr lang="en-SE" sz="1800" kern="1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>
                    <a:solidFill>
                      <a:srgbClr val="D3E0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100" dirty="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 </a:t>
                      </a:r>
                      <a:endParaRPr lang="en-SE" sz="1800" kern="1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>
                    <a:solidFill>
                      <a:srgbClr val="D3E0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100" dirty="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 </a:t>
                      </a:r>
                      <a:endParaRPr lang="en-SE" sz="1800" kern="1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>
                    <a:solidFill>
                      <a:srgbClr val="D3E0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030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1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 Transport</a:t>
                      </a:r>
                      <a:endParaRPr lang="en-SE" sz="1800" kern="1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35 (57)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66 (64)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249 (64)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37 (65)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31 (52)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418 (62)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61160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100" dirty="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 Fall</a:t>
                      </a:r>
                      <a:endParaRPr lang="en-SE" sz="1800" kern="1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18 (29)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28 (27)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106 (27)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06 (11)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06 (10)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164 (24)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90574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1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 Assault</a:t>
                      </a:r>
                      <a:endParaRPr lang="en-SE" sz="1800" kern="1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09 (15)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4 (4)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10 (3)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08 (14)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13 (22)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44 (7)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579875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1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 Self-harm</a:t>
                      </a:r>
                      <a:endParaRPr lang="en-SE" sz="1800" kern="1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NA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3 (3)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 (0)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 (2)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NA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5 (1)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152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1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 Other</a:t>
                      </a:r>
                      <a:endParaRPr lang="en-SE" sz="1800" kern="1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NA 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 (2)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24 (6)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5 (9)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 (3)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33 (5)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84627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1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 Missing</a:t>
                      </a:r>
                      <a:endParaRPr lang="en-SE" sz="1800" kern="1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NA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NA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NA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NA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8 (13)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8 (1)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4422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Transfer, no. (%)</a:t>
                      </a:r>
                      <a:endParaRPr lang="en-SE" sz="1800" kern="1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dirty="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10 (16)</a:t>
                      </a:r>
                      <a:endParaRPr lang="en-SE" sz="18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>
                    <a:solidFill>
                      <a:srgbClr val="00B05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dirty="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31 (30)</a:t>
                      </a:r>
                      <a:endParaRPr lang="en-SE" sz="18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>
                    <a:solidFill>
                      <a:srgbClr val="00B05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dirty="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282 (72)</a:t>
                      </a:r>
                      <a:endParaRPr lang="en-SE" sz="18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>
                    <a:solidFill>
                      <a:srgbClr val="00B05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dirty="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6 (11)</a:t>
                      </a:r>
                      <a:endParaRPr lang="en-SE" sz="18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>
                    <a:solidFill>
                      <a:srgbClr val="00B05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dirty="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37 (61)</a:t>
                      </a:r>
                      <a:endParaRPr lang="en-SE" sz="18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>
                    <a:solidFill>
                      <a:srgbClr val="00B05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dirty="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366 (54)</a:t>
                      </a:r>
                      <a:endParaRPr lang="en-SE" sz="18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>
                    <a:solidFill>
                      <a:srgbClr val="00B05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38815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8763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905CDA-E446-E486-C7E8-7662FB419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1B64A-AF28-B7C8-E685-4226D6600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5257800" cy="1325563"/>
          </a:xfrm>
        </p:spPr>
        <p:txBody>
          <a:bodyPr anchor="b">
            <a:normAutofit/>
          </a:bodyPr>
          <a:lstStyle/>
          <a:p>
            <a:r>
              <a:rPr lang="en-SE" sz="3200" b="1" dirty="0">
                <a:latin typeface="Quicksand SemiBold" pitchFamily="2" charset="77"/>
              </a:rPr>
              <a:t>Batch 1 data review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7A77B3-C49D-2D9D-1EE0-DC1318DBD5EA}"/>
              </a:ext>
            </a:extLst>
          </p:cNvPr>
          <p:cNvCxnSpPr>
            <a:cxnSpLocks/>
            <a:stCxn id="2" idx="1"/>
          </p:cNvCxnSpPr>
          <p:nvPr/>
        </p:nvCxnSpPr>
        <p:spPr>
          <a:xfrm>
            <a:off x="838200" y="662782"/>
            <a:ext cx="1800000" cy="7263"/>
          </a:xfrm>
          <a:prstGeom prst="line">
            <a:avLst/>
          </a:prstGeom>
          <a:ln w="63500">
            <a:solidFill>
              <a:srgbClr val="F584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F73DA8E5-386B-5F05-05B6-910F4718A6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9266043"/>
              </p:ext>
            </p:extLst>
          </p:nvPr>
        </p:nvGraphicFramePr>
        <p:xfrm>
          <a:off x="838200" y="1286324"/>
          <a:ext cx="10515596" cy="548773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502228">
                  <a:extLst>
                    <a:ext uri="{9D8B030D-6E8A-4147-A177-3AD203B41FA5}">
                      <a16:colId xmlns:a16="http://schemas.microsoft.com/office/drawing/2014/main" val="1731360880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594793111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013554707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995148155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295088719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406843855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05658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en-SE" sz="1800" kern="1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00" dirty="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Cooper </a:t>
                      </a:r>
                      <a:endParaRPr lang="en-SE" sz="1800" kern="1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800" b="1" kern="100" dirty="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(n = 62) </a:t>
                      </a:r>
                      <a:endParaRPr lang="en-SE" sz="1800" kern="1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00" dirty="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HIMS </a:t>
                      </a:r>
                      <a:endParaRPr lang="en-SE" sz="1800" kern="1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800" b="1" kern="100" dirty="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(n = 103) </a:t>
                      </a:r>
                      <a:endParaRPr lang="en-SE" sz="1800" kern="1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SSKM</a:t>
                      </a:r>
                      <a:endParaRPr lang="en-SE" sz="1800" kern="1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800" b="1" kern="1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(n = 390) </a:t>
                      </a:r>
                      <a:endParaRPr lang="en-SE" sz="1800" kern="1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CMC </a:t>
                      </a:r>
                      <a:endParaRPr lang="en-SE" sz="1800" kern="1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800" b="1" kern="1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(n = 57) </a:t>
                      </a:r>
                      <a:endParaRPr lang="en-SE" sz="1800" kern="1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GMC </a:t>
                      </a:r>
                      <a:endParaRPr lang="en-SE" sz="1800" kern="1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800" b="1" kern="1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(n = 60)</a:t>
                      </a:r>
                      <a:endParaRPr lang="en-SE" sz="1800" kern="1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00" dirty="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Overall </a:t>
                      </a:r>
                    </a:p>
                    <a:p>
                      <a:pPr>
                        <a:buNone/>
                      </a:pPr>
                      <a:r>
                        <a:rPr lang="en-US" sz="1800" b="1" kern="100" dirty="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(n = 672)</a:t>
                      </a:r>
                      <a:endParaRPr lang="en-SE" sz="1800" kern="1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76156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SBP, median (IQR)*</a:t>
                      </a:r>
                      <a:endParaRPr lang="en-SE" sz="1800" kern="1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110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(100-118)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>
                    <a:solidFill>
                      <a:srgbClr val="D3E0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120 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(110-140)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>
                    <a:solidFill>
                      <a:srgbClr val="D3E0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127 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(114-136)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>
                    <a:solidFill>
                      <a:srgbClr val="D3E0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120 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(110-140)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>
                    <a:solidFill>
                      <a:srgbClr val="D3E0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119.5 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(100-140)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>
                    <a:solidFill>
                      <a:srgbClr val="D3E0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120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>
                    <a:solidFill>
                      <a:srgbClr val="D3E0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030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1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 Missing, no.</a:t>
                      </a:r>
                      <a:endParaRPr lang="en-SE" sz="1800" kern="1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4 (6) 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5 (5)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23 (6)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4 (7)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8 (13)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44 (7)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61160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RR, median (IQR)*</a:t>
                      </a:r>
                      <a:endParaRPr lang="en-SE" sz="1800" kern="1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22 (20-24)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19 (18-20)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21 (18-21)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21 (20-22.5)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22 (20-22)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20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90574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1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 Missing, no. (%)</a:t>
                      </a:r>
                      <a:endParaRPr lang="en-SE" sz="1800" kern="1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4 (6)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5 (5)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45 (11)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13 (23)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10 (17)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77 (11)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579875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SpO2, median (IQR)*</a:t>
                      </a:r>
                      <a:endParaRPr lang="en-SE" sz="1800" kern="1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98 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(97.25-98)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98 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(96-98)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99 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(97-100)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98 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(97-100)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97 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(94-98)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98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152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1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 Missing, no. (%)</a:t>
                      </a:r>
                      <a:endParaRPr lang="en-SE" sz="1800" kern="1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4 (6)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5 (5)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12 (3)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 (2)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10 (17)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32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84627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GCS, median (IQR)*</a:t>
                      </a:r>
                      <a:endParaRPr lang="en-SE" sz="1800" kern="1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13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(10-15)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9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(8-15)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>
                    <a:solidFill>
                      <a:srgbClr val="FF00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15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(15-15) 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15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(15-15)  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15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(15-15)  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13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4422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1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 Missing, no. (%)</a:t>
                      </a:r>
                      <a:endParaRPr lang="en-SE" sz="1800" kern="1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10 (16)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03 (3)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7 (2)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 (4)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10 (17)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32 (5)</a:t>
                      </a:r>
                      <a:endParaRPr lang="en-SE" sz="18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738815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047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EAAF4D-2350-0846-F61F-32F7BAC7D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3D71F-F480-30D5-6348-5165A7BFF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5257800" cy="1325563"/>
          </a:xfrm>
        </p:spPr>
        <p:txBody>
          <a:bodyPr anchor="b">
            <a:normAutofit/>
          </a:bodyPr>
          <a:lstStyle/>
          <a:p>
            <a:r>
              <a:rPr lang="en-SE" sz="3200" b="1" dirty="0">
                <a:latin typeface="Quicksand SemiBold" pitchFamily="2" charset="77"/>
              </a:rPr>
              <a:t>Batch 1 data review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96D16C-D4D3-7865-607A-AF312B634843}"/>
              </a:ext>
            </a:extLst>
          </p:cNvPr>
          <p:cNvCxnSpPr>
            <a:cxnSpLocks/>
            <a:stCxn id="2" idx="1"/>
          </p:cNvCxnSpPr>
          <p:nvPr/>
        </p:nvCxnSpPr>
        <p:spPr>
          <a:xfrm>
            <a:off x="838200" y="662782"/>
            <a:ext cx="1800000" cy="7263"/>
          </a:xfrm>
          <a:prstGeom prst="line">
            <a:avLst/>
          </a:prstGeom>
          <a:ln w="63500">
            <a:solidFill>
              <a:srgbClr val="F584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BD3208B0-BECE-2754-335B-555F020FEA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0546145"/>
              </p:ext>
            </p:extLst>
          </p:nvPr>
        </p:nvGraphicFramePr>
        <p:xfrm>
          <a:off x="838200" y="1460500"/>
          <a:ext cx="10515596" cy="45974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502228">
                  <a:extLst>
                    <a:ext uri="{9D8B030D-6E8A-4147-A177-3AD203B41FA5}">
                      <a16:colId xmlns:a16="http://schemas.microsoft.com/office/drawing/2014/main" val="1731360880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594793111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013554707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995148155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295088719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406843855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05658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en-SE" sz="1800" kern="1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00" dirty="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Cooper </a:t>
                      </a:r>
                      <a:endParaRPr lang="en-SE" sz="1800" kern="1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800" b="1" kern="100" dirty="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(n = 62) </a:t>
                      </a:r>
                      <a:endParaRPr lang="en-SE" sz="1800" kern="1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00" dirty="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HIMS </a:t>
                      </a:r>
                      <a:endParaRPr lang="en-SE" sz="1800" kern="1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800" b="1" kern="100" dirty="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(n = 103) </a:t>
                      </a:r>
                      <a:endParaRPr lang="en-SE" sz="1800" kern="1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SSKM</a:t>
                      </a:r>
                      <a:endParaRPr lang="en-SE" sz="1800" kern="1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800" b="1" kern="1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(n = 390) </a:t>
                      </a:r>
                      <a:endParaRPr lang="en-SE" sz="1800" kern="1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CMC </a:t>
                      </a:r>
                      <a:endParaRPr lang="en-SE" sz="1800" kern="1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800" b="1" kern="1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(n = 57) </a:t>
                      </a:r>
                      <a:endParaRPr lang="en-SE" sz="1800" kern="1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GMC </a:t>
                      </a:r>
                      <a:endParaRPr lang="en-SE" sz="1800" kern="1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800" b="1" kern="1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(n = 60)</a:t>
                      </a:r>
                      <a:endParaRPr lang="en-SE" sz="1800" kern="1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00" dirty="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Overall </a:t>
                      </a:r>
                    </a:p>
                    <a:p>
                      <a:pPr>
                        <a:buNone/>
                      </a:pPr>
                      <a:r>
                        <a:rPr lang="en-US" sz="1800" b="1" kern="100" dirty="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(n = 672)</a:t>
                      </a:r>
                      <a:endParaRPr lang="en-SE" sz="1800" kern="1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76156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CT, no. (%)</a:t>
                      </a:r>
                      <a:endParaRPr lang="en-SE" sz="1800" kern="1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38 (61)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>
                    <a:solidFill>
                      <a:srgbClr val="D3E0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161 (156)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>
                    <a:solidFill>
                      <a:srgbClr val="D3E0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351 (90)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>
                    <a:solidFill>
                      <a:srgbClr val="D3E0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46 (81)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>
                    <a:solidFill>
                      <a:srgbClr val="D3E0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42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>
                    <a:solidFill>
                      <a:srgbClr val="D3E0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638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>
                    <a:solidFill>
                      <a:srgbClr val="D3E0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030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Surgery, no. (%)</a:t>
                      </a:r>
                      <a:endParaRPr lang="en-SE" sz="1800" kern="1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5 (8)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32 (31)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198 (51)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16 (28)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28 (53)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326</a:t>
                      </a:r>
                      <a:endParaRPr lang="en-SE" sz="18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61160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ICU admission, no (%)</a:t>
                      </a:r>
                      <a:endParaRPr lang="en-SE" sz="1800" kern="1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dirty="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38 (61)</a:t>
                      </a:r>
                      <a:endParaRPr lang="en-SE" sz="18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12 (12)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150 (38)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11 (19)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4 (5)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dirty="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181 (27)</a:t>
                      </a:r>
                      <a:endParaRPr lang="en-SE" sz="18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90574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Hospital disposition, no. (%)</a:t>
                      </a:r>
                      <a:endParaRPr lang="en-SE" sz="1800" kern="1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1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 </a:t>
                      </a:r>
                      <a:endParaRPr lang="en-SE" sz="1800" kern="1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1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 </a:t>
                      </a:r>
                      <a:endParaRPr lang="en-SE" sz="1800" kern="1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100" dirty="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 </a:t>
                      </a:r>
                      <a:endParaRPr lang="en-SE" sz="1800" kern="1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100" dirty="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 </a:t>
                      </a:r>
                      <a:endParaRPr lang="en-SE" sz="1800" kern="1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1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 </a:t>
                      </a:r>
                      <a:endParaRPr lang="en-SE" sz="1800" kern="1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1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 </a:t>
                      </a:r>
                      <a:endParaRPr lang="en-SE" sz="1800" kern="1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579875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1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 Alive</a:t>
                      </a:r>
                      <a:endParaRPr lang="en-SE" sz="1800" kern="1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48 (77)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95 (92)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264 (68)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54 (95)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46 (77)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507 (75)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152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1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 Dead</a:t>
                      </a:r>
                      <a:endParaRPr lang="en-SE" sz="1800" kern="1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10 (16)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5 (5)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71 (18)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3 (5)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 (2)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90 (13) 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84627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1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 Transfer</a:t>
                      </a:r>
                      <a:endParaRPr lang="en-SE" sz="1800" kern="1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NA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NA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>
                    <a:solidFill>
                      <a:srgbClr val="D3E0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 (1)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NA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NA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 (0)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4422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100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 Missing</a:t>
                      </a:r>
                      <a:endParaRPr lang="en-SE" sz="1800" kern="1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4 (6)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3 (3)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53 (14)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0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13</a:t>
                      </a:r>
                      <a:endParaRPr lang="en-SE" sz="180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73 (11)</a:t>
                      </a:r>
                      <a:endParaRPr lang="en-SE" sz="1800" dirty="0"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738815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1493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12533-8270-97D6-8AED-816777851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CC61C-7CF5-6283-2E82-7D2992240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257800" cy="1325563"/>
          </a:xfrm>
        </p:spPr>
        <p:txBody>
          <a:bodyPr anchor="b">
            <a:normAutofit/>
          </a:bodyPr>
          <a:lstStyle/>
          <a:p>
            <a:r>
              <a:rPr lang="en-US" sz="3200" b="1" dirty="0">
                <a:latin typeface="Quicksand SemiBold" pitchFamily="2" charset="77"/>
                <a:ea typeface="Helvetica Neue Light" panose="02000403000000020004" pitchFamily="2" charset="0"/>
                <a:cs typeface="Helvetica Neue" panose="02000503000000020004" pitchFamily="2" charset="0"/>
              </a:rPr>
              <a:t>Batch 2 progress update</a:t>
            </a:r>
            <a:endParaRPr lang="en-SE" sz="3200" b="1" dirty="0">
              <a:latin typeface="Quicksand SemiBold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6C6BAC4-900C-83C8-0257-6AFCA8CA53F3}"/>
              </a:ext>
            </a:extLst>
          </p:cNvPr>
          <p:cNvCxnSpPr>
            <a:cxnSpLocks/>
            <a:stCxn id="2" idx="1"/>
          </p:cNvCxnSpPr>
          <p:nvPr/>
        </p:nvCxnSpPr>
        <p:spPr>
          <a:xfrm>
            <a:off x="838200" y="1027907"/>
            <a:ext cx="1800000" cy="7263"/>
          </a:xfrm>
          <a:prstGeom prst="line">
            <a:avLst/>
          </a:prstGeom>
          <a:ln w="63500">
            <a:solidFill>
              <a:srgbClr val="F584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C7BB0E8-80A0-1AC1-6A01-DA700097F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762014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48AE6-8A70-A5B5-5272-6A7B61436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AA272-E597-E31D-4BBD-0276E2964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257800" cy="1325563"/>
          </a:xfrm>
        </p:spPr>
        <p:txBody>
          <a:bodyPr anchor="b">
            <a:normAutofit/>
          </a:bodyPr>
          <a:lstStyle/>
          <a:p>
            <a:r>
              <a:rPr lang="en-US" sz="3200" b="1" dirty="0">
                <a:latin typeface="Quicksand SemiBold" pitchFamily="2" charset="77"/>
                <a:ea typeface="Helvetica Neue Light" panose="02000403000000020004" pitchFamily="2" charset="0"/>
                <a:cs typeface="Helvetica Neue" panose="02000503000000020004" pitchFamily="2" charset="0"/>
              </a:rPr>
              <a:t>Batch 3 progress update</a:t>
            </a:r>
            <a:endParaRPr lang="en-SE" sz="3200" b="1" dirty="0">
              <a:latin typeface="Quicksand SemiBold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1AB33A9-EC67-1DBE-A7F6-9B8CDFD63F2E}"/>
              </a:ext>
            </a:extLst>
          </p:cNvPr>
          <p:cNvCxnSpPr>
            <a:cxnSpLocks/>
            <a:stCxn id="2" idx="1"/>
          </p:cNvCxnSpPr>
          <p:nvPr/>
        </p:nvCxnSpPr>
        <p:spPr>
          <a:xfrm>
            <a:off x="838200" y="1027907"/>
            <a:ext cx="1800000" cy="7263"/>
          </a:xfrm>
          <a:prstGeom prst="line">
            <a:avLst/>
          </a:prstGeom>
          <a:ln w="63500">
            <a:solidFill>
              <a:srgbClr val="F584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F328B9C-CA9F-9C52-AEE9-DBD3A8EA0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Potential sites</a:t>
            </a:r>
          </a:p>
          <a:p>
            <a:pPr lvl="1"/>
            <a:r>
              <a:rPr lang="en-IN" sz="16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Srinagar Government Medical College</a:t>
            </a:r>
          </a:p>
          <a:p>
            <a:pPr lvl="2"/>
            <a:r>
              <a:rPr lang="en-IN" sz="12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Ethics initiated</a:t>
            </a:r>
          </a:p>
          <a:p>
            <a:pPr lvl="1"/>
            <a:r>
              <a:rPr lang="en-IN" sz="16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Kolkata Medical College</a:t>
            </a:r>
          </a:p>
          <a:p>
            <a:pPr lvl="2"/>
            <a:r>
              <a:rPr lang="en-IN" sz="12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Screening process initiated</a:t>
            </a:r>
          </a:p>
          <a:p>
            <a:pPr lvl="1"/>
            <a:r>
              <a:rPr lang="en-IN" sz="16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PGI Chandigarh</a:t>
            </a:r>
          </a:p>
          <a:p>
            <a:pPr lvl="2"/>
            <a:r>
              <a:rPr lang="en-IN" sz="12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Screening process initiated</a:t>
            </a:r>
          </a:p>
          <a:p>
            <a:pPr lvl="1"/>
            <a:r>
              <a:rPr lang="en-IN" sz="16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Kalpana Chawla Government Medical College &amp; Hospital</a:t>
            </a:r>
          </a:p>
          <a:p>
            <a:pPr lvl="2"/>
            <a:r>
              <a:rPr lang="en-IN" sz="12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Screening process initiated</a:t>
            </a:r>
          </a:p>
          <a:p>
            <a:pPr lvl="1"/>
            <a:r>
              <a:rPr lang="en-IN" sz="16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We need to identify two additional sites for this batch</a:t>
            </a:r>
            <a:br>
              <a:rPr lang="en-IN" sz="16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</a:br>
            <a:endParaRPr lang="en-IN" sz="1600" dirty="0"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  <a:p>
            <a:pPr lvl="2"/>
            <a:endParaRPr lang="en-IN" sz="1200" dirty="0"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  <a:p>
            <a:endParaRPr lang="en-SE" sz="2000" dirty="0"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3315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430DC-CBAA-7BCA-03F4-5F63AB772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ED7B3-75DC-ABDB-BD88-887DA7AD1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257800" cy="1325563"/>
          </a:xfrm>
        </p:spPr>
        <p:txBody>
          <a:bodyPr anchor="b">
            <a:normAutofit/>
          </a:bodyPr>
          <a:lstStyle/>
          <a:p>
            <a:r>
              <a:rPr lang="en-US" sz="3200" b="1" dirty="0">
                <a:latin typeface="Quicksand SemiBold" pitchFamily="2" charset="77"/>
                <a:ea typeface="Helvetica Neue Light" panose="02000403000000020004" pitchFamily="2" charset="0"/>
                <a:cs typeface="Helvetica Neue" panose="02000503000000020004" pitchFamily="2" charset="0"/>
              </a:rPr>
              <a:t>Protocol paper update</a:t>
            </a:r>
            <a:endParaRPr lang="en-SE" sz="3200" b="1" dirty="0">
              <a:latin typeface="Quicksand SemiBold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2EFC6F7-4D74-9912-FFB6-8F87793DEFF2}"/>
              </a:ext>
            </a:extLst>
          </p:cNvPr>
          <p:cNvCxnSpPr>
            <a:cxnSpLocks/>
            <a:stCxn id="2" idx="1"/>
          </p:cNvCxnSpPr>
          <p:nvPr/>
        </p:nvCxnSpPr>
        <p:spPr>
          <a:xfrm>
            <a:off x="838200" y="1027907"/>
            <a:ext cx="1800000" cy="7263"/>
          </a:xfrm>
          <a:prstGeom prst="line">
            <a:avLst/>
          </a:prstGeom>
          <a:ln w="63500">
            <a:solidFill>
              <a:srgbClr val="F584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CA91A7C-C5E6-3597-C4E8-2B31B92A4D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Under review</a:t>
            </a:r>
            <a:br>
              <a:rPr lang="en-IN" sz="12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</a:br>
            <a:endParaRPr lang="en-IN" sz="1200" dirty="0"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  <a:p>
            <a:pPr lvl="2"/>
            <a:endParaRPr lang="en-IN" sz="1200" dirty="0"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  <a:p>
            <a:endParaRPr lang="en-SE" sz="2000" dirty="0"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07092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6B8BD-A863-2B76-529E-9CB24C5A6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9C17A-2E53-848B-A95E-0829AB608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257800" cy="1325563"/>
          </a:xfrm>
        </p:spPr>
        <p:txBody>
          <a:bodyPr anchor="b">
            <a:normAutofit/>
          </a:bodyPr>
          <a:lstStyle/>
          <a:p>
            <a:r>
              <a:rPr lang="en-US" sz="3200" b="1" dirty="0">
                <a:latin typeface="Quicksand SemiBold" pitchFamily="2" charset="77"/>
                <a:ea typeface="Helvetica Neue Light" panose="02000403000000020004" pitchFamily="2" charset="0"/>
                <a:cs typeface="Helvetica Neue" panose="02000503000000020004" pitchFamily="2" charset="0"/>
              </a:rPr>
              <a:t>Any other business?</a:t>
            </a:r>
            <a:endParaRPr lang="en-SE" sz="3200" b="1" dirty="0">
              <a:latin typeface="Quicksand SemiBold" pitchFamily="2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1B67FED-D303-98FD-88CF-0EBF7120B380}"/>
              </a:ext>
            </a:extLst>
          </p:cNvPr>
          <p:cNvCxnSpPr>
            <a:cxnSpLocks/>
            <a:stCxn id="2" idx="1"/>
          </p:cNvCxnSpPr>
          <p:nvPr/>
        </p:nvCxnSpPr>
        <p:spPr>
          <a:xfrm>
            <a:off x="838200" y="1027907"/>
            <a:ext cx="1800000" cy="7263"/>
          </a:xfrm>
          <a:prstGeom prst="line">
            <a:avLst/>
          </a:prstGeom>
          <a:ln w="63500">
            <a:solidFill>
              <a:srgbClr val="F584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F0B34C8-1AB4-D2EC-75B4-CD9CF46651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14400" lvl="2" indent="0">
              <a:buNone/>
            </a:pPr>
            <a:endParaRPr lang="en-IN" sz="1200" dirty="0"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  <a:p>
            <a:endParaRPr lang="en-SE" sz="2000" dirty="0"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7571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47108</TotalTime>
  <Words>935</Words>
  <Application>Microsoft Macintosh PowerPoint</Application>
  <PresentationFormat>Widescreen</PresentationFormat>
  <Paragraphs>311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Aptos Display</vt:lpstr>
      <vt:lpstr>Arial</vt:lpstr>
      <vt:lpstr>Helvetica Neue</vt:lpstr>
      <vt:lpstr>Helvetica Neue Light</vt:lpstr>
      <vt:lpstr>Quicksand</vt:lpstr>
      <vt:lpstr>Quicksand SemiBold</vt:lpstr>
      <vt:lpstr>Office Theme</vt:lpstr>
      <vt:lpstr>ADVANCE TRAUMA</vt:lpstr>
      <vt:lpstr>Agenda</vt:lpstr>
      <vt:lpstr>Batch 1 patient inclusion</vt:lpstr>
      <vt:lpstr>Batch 1 data review</vt:lpstr>
      <vt:lpstr>Batch 1 data review</vt:lpstr>
      <vt:lpstr>Batch 1 data review</vt:lpstr>
      <vt:lpstr>Batch 1 data review</vt:lpstr>
      <vt:lpstr>Batch 2 progress update</vt:lpstr>
      <vt:lpstr>Batch 3 progress update</vt:lpstr>
      <vt:lpstr>Protocol paper update</vt:lpstr>
      <vt:lpstr>Any other business?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 Gerdin Wärnberg</dc:creator>
  <cp:lastModifiedBy>Martin Gerdin Wärnberg</cp:lastModifiedBy>
  <cp:revision>4</cp:revision>
  <dcterms:created xsi:type="dcterms:W3CDTF">2025-08-27T08:34:40Z</dcterms:created>
  <dcterms:modified xsi:type="dcterms:W3CDTF">2025-11-07T05:34:29Z</dcterms:modified>
</cp:coreProperties>
</file>